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6D1BE3-E5B5-4FC1-9EE0-911D4031D943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37A50-76E4-4A39-9E18-8E726FB5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2160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937A50-76E4-4A39-9E18-8E726FB5AA6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830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3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5285232" cy="129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64592"/>
            <a:ext cx="6309360" cy="3200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pt-BR" sz="1600" b="0" dirty="0">
                <a:solidFill>
                  <a:schemeClr val="bg1"/>
                </a:solidFill>
                <a:latin typeface="Aptos"/>
              </a:rPr>
              <a:t>UNIDADE 4 – Checklist final da Entrega</a:t>
            </a:r>
            <a:endParaRPr sz="11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438912"/>
            <a:ext cx="6309360" cy="44319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400" b="1" dirty="0">
                <a:solidFill>
                  <a:schemeClr val="bg1"/>
                </a:solidFill>
                <a:latin typeface="Aptos"/>
              </a:rPr>
              <a:t>Preparação dos Dados com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6309360" cy="28931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  <a:latin typeface="Aptos"/>
              </a:rPr>
              <a:t>Preparação, </a:t>
            </a:r>
            <a:r>
              <a:rPr sz="1400" b="0" dirty="0" err="1">
                <a:solidFill>
                  <a:schemeClr val="bg1"/>
                </a:solidFill>
                <a:latin typeface="Aptos"/>
              </a:rPr>
              <a:t>documentação</a:t>
            </a:r>
            <a:r>
              <a:rPr sz="1400" b="0" dirty="0">
                <a:solidFill>
                  <a:schemeClr val="bg1"/>
                </a:solidFill>
                <a:latin typeface="Aptos"/>
              </a:rPr>
              <a:t> e </a:t>
            </a:r>
            <a:r>
              <a:rPr sz="1400" b="0" dirty="0" err="1">
                <a:solidFill>
                  <a:schemeClr val="bg1"/>
                </a:solidFill>
                <a:latin typeface="Aptos"/>
              </a:rPr>
              <a:t>validação</a:t>
            </a:r>
            <a:r>
              <a:rPr sz="1400" b="0" dirty="0">
                <a:solidFill>
                  <a:schemeClr val="bg1"/>
                </a:solidFill>
                <a:latin typeface="Aptos"/>
              </a:rPr>
              <a:t> da base PRF 2025</a:t>
            </a:r>
            <a:endParaRPr sz="11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0040" y="6447222"/>
            <a:ext cx="114848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latin typeface="Aptos"/>
              </a:defRPr>
            </a:lvl1pPr>
          </a:lstStyle>
          <a:p>
            <a:r>
              <a:rPr b="1" dirty="0" err="1"/>
              <a:t>Análise</a:t>
            </a:r>
            <a:r>
              <a:rPr b="1" dirty="0"/>
              <a:t> de Dados  |  PRF 2025</a:t>
            </a:r>
            <a:r>
              <a:rPr lang="pt-BR" b="1" dirty="0"/>
              <a:t> - </a:t>
            </a:r>
            <a:r>
              <a:rPr lang="pt-BR" dirty="0"/>
              <a:t>https://github.com/Wellington-datastrategy/Modulo-01-Aponti_PRF2025/tree/main/04_PRF2025_Python</a:t>
            </a:r>
            <a:endParaRPr dirty="0"/>
          </a:p>
        </p:txBody>
      </p:sp>
      <p:sp>
        <p:nvSpPr>
          <p:cNvPr id="57" name="Rounded Rectangle 56"/>
          <p:cNvSpPr/>
          <p:nvPr/>
        </p:nvSpPr>
        <p:spPr>
          <a:xfrm>
            <a:off x="256032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56032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4632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</a:rPr>
              <a:t>72.529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1966664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latin typeface="Aptos"/>
              </a:rPr>
              <a:t>Registros</a:t>
            </a:r>
            <a:r>
              <a:rPr sz="1400" b="0" dirty="0">
                <a:latin typeface="Aptos"/>
              </a:rPr>
              <a:t> PRF 2025</a:t>
            </a:r>
            <a:endParaRPr sz="1400" b="0" dirty="0">
              <a:solidFill>
                <a:srgbClr val="243746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246120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46120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74720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1966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latin typeface="Aptos"/>
              </a:defRPr>
            </a:lvl1pPr>
          </a:lstStyle>
          <a:p>
            <a:r>
              <a:rPr dirty="0"/>
              <a:t>Bases </a:t>
            </a:r>
            <a:r>
              <a:rPr dirty="0" err="1"/>
              <a:t>tratadas</a:t>
            </a:r>
            <a:endParaRPr dirty="0"/>
          </a:p>
        </p:txBody>
      </p:sp>
      <p:sp>
        <p:nvSpPr>
          <p:cNvPr id="65" name="Rounded Rectangle 64"/>
          <p:cNvSpPr/>
          <p:nvPr/>
        </p:nvSpPr>
        <p:spPr>
          <a:xfrm>
            <a:off x="6236208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36208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64808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18031" y="1825984"/>
            <a:ext cx="2478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latin typeface="Aptos"/>
              </a:defRPr>
            </a:lvl1pPr>
          </a:lstStyle>
          <a:p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documentadas</a:t>
            </a:r>
            <a:endParaRPr dirty="0"/>
          </a:p>
        </p:txBody>
      </p:sp>
      <p:sp>
        <p:nvSpPr>
          <p:cNvPr id="69" name="Rounded Rectangle 68"/>
          <p:cNvSpPr/>
          <p:nvPr/>
        </p:nvSpPr>
        <p:spPr>
          <a:xfrm>
            <a:off x="9226296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226296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54896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23712" y="1854120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latin typeface="Aptos"/>
              </a:defRPr>
            </a:lvl1pPr>
          </a:lstStyle>
          <a:p>
            <a:r>
              <a:rPr dirty="0" err="1"/>
              <a:t>Variável-alvo</a:t>
            </a:r>
            <a:endParaRPr dirty="0"/>
          </a:p>
        </p:txBody>
      </p:sp>
      <p:sp>
        <p:nvSpPr>
          <p:cNvPr id="73" name="TextBox 72"/>
          <p:cNvSpPr txBox="1"/>
          <p:nvPr/>
        </p:nvSpPr>
        <p:spPr>
          <a:xfrm>
            <a:off x="320040" y="234648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latin typeface="Aptos"/>
              </a:rPr>
              <a:t>Solução</a:t>
            </a:r>
            <a:r>
              <a:rPr sz="1400" b="1" dirty="0">
                <a:latin typeface="Aptos"/>
              </a:rPr>
              <a:t> </a:t>
            </a:r>
            <a:r>
              <a:rPr sz="1400" b="1" dirty="0" err="1">
                <a:latin typeface="Aptos"/>
              </a:rPr>
              <a:t>executada</a:t>
            </a:r>
            <a:r>
              <a:rPr sz="1400" dirty="0">
                <a:latin typeface="Aptos"/>
              </a:rPr>
              <a:t>: </a:t>
            </a:r>
            <a:r>
              <a:rPr sz="1400" dirty="0" err="1">
                <a:latin typeface="Aptos"/>
              </a:rPr>
              <a:t>preparar</a:t>
            </a:r>
            <a:r>
              <a:rPr sz="1400" dirty="0">
                <a:latin typeface="Aptos"/>
              </a:rPr>
              <a:t> o CSV </a:t>
            </a:r>
            <a:r>
              <a:rPr sz="1400" dirty="0" err="1">
                <a:latin typeface="Aptos"/>
              </a:rPr>
              <a:t>bruto</a:t>
            </a:r>
            <a:r>
              <a:rPr sz="1400" dirty="0">
                <a:latin typeface="Aptos"/>
              </a:rPr>
              <a:t>, </a:t>
            </a:r>
            <a:r>
              <a:rPr sz="1400" dirty="0" err="1">
                <a:latin typeface="Aptos"/>
              </a:rPr>
              <a:t>criar</a:t>
            </a:r>
            <a:r>
              <a:rPr sz="1400" dirty="0">
                <a:latin typeface="Aptos"/>
              </a:rPr>
              <a:t> </a:t>
            </a:r>
            <a:r>
              <a:rPr sz="1400" dirty="0" err="1">
                <a:latin typeface="Aptos"/>
              </a:rPr>
              <a:t>variáveis</a:t>
            </a:r>
            <a:r>
              <a:rPr sz="1400" dirty="0">
                <a:latin typeface="Aptos"/>
              </a:rPr>
              <a:t> </a:t>
            </a:r>
            <a:r>
              <a:rPr sz="1400" dirty="0" err="1">
                <a:latin typeface="Aptos"/>
              </a:rPr>
              <a:t>derivadas</a:t>
            </a:r>
            <a:r>
              <a:rPr sz="1400" dirty="0">
                <a:latin typeface="Aptos"/>
              </a:rPr>
              <a:t>, </a:t>
            </a:r>
            <a:r>
              <a:rPr sz="1400" dirty="0" err="1">
                <a:latin typeface="Aptos"/>
              </a:rPr>
              <a:t>separar</a:t>
            </a:r>
            <a:r>
              <a:rPr sz="1400" dirty="0">
                <a:latin typeface="Aptos"/>
              </a:rPr>
              <a:t> as bases </a:t>
            </a:r>
            <a:r>
              <a:rPr sz="1400" dirty="0" err="1">
                <a:latin typeface="Aptos"/>
              </a:rPr>
              <a:t>analítica</a:t>
            </a:r>
            <a:r>
              <a:rPr sz="1400" dirty="0">
                <a:latin typeface="Aptos"/>
              </a:rPr>
              <a:t> e modelável, </a:t>
            </a:r>
            <a:r>
              <a:rPr sz="1400" dirty="0" err="1">
                <a:latin typeface="Aptos"/>
              </a:rPr>
              <a:t>documentar</a:t>
            </a:r>
            <a:r>
              <a:rPr sz="1400" dirty="0">
                <a:latin typeface="Aptos"/>
              </a:rPr>
              <a:t> as </a:t>
            </a:r>
            <a:r>
              <a:rPr sz="1400" dirty="0" err="1">
                <a:latin typeface="Aptos"/>
              </a:rPr>
              <a:t>decisões</a:t>
            </a:r>
            <a:r>
              <a:rPr sz="1400" dirty="0">
                <a:latin typeface="Aptos"/>
              </a:rPr>
              <a:t> e </a:t>
            </a:r>
            <a:r>
              <a:rPr sz="1400" dirty="0" err="1">
                <a:latin typeface="Aptos"/>
              </a:rPr>
              <a:t>validar</a:t>
            </a:r>
            <a:r>
              <a:rPr sz="1400" dirty="0">
                <a:latin typeface="Aptos"/>
              </a:rPr>
              <a:t> a reprodutibilidade</a:t>
            </a:r>
            <a:r>
              <a:rPr sz="1400" b="1" dirty="0">
                <a:latin typeface="Aptos"/>
              </a:rPr>
              <a:t>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6032" y="2852928"/>
            <a:ext cx="3703320" cy="144475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20624" y="301752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0624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" y="2890908"/>
            <a:ext cx="2807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 dirty="0"/>
              <a:t>1. </a:t>
            </a:r>
            <a:r>
              <a:rPr sz="1600" b="1" dirty="0" err="1"/>
              <a:t>Diagnóstico</a:t>
            </a:r>
            <a:r>
              <a:rPr sz="1600" b="1" dirty="0"/>
              <a:t> e preparação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" y="33832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latin typeface="Aptos"/>
              </a:defRPr>
            </a:lvl1pPr>
          </a:lstStyle>
          <a:p>
            <a:r>
              <a:rPr dirty="0" err="1"/>
              <a:t>Leitura</a:t>
            </a:r>
            <a:r>
              <a:rPr dirty="0"/>
              <a:t> </a:t>
            </a:r>
            <a:r>
              <a:rPr dirty="0" err="1"/>
              <a:t>robusta</a:t>
            </a:r>
            <a:r>
              <a:rPr dirty="0"/>
              <a:t> do CSV | </a:t>
            </a:r>
            <a:r>
              <a:rPr dirty="0" err="1"/>
              <a:t>tipos</a:t>
            </a:r>
            <a:r>
              <a:rPr dirty="0"/>
              <a:t>, </a:t>
            </a:r>
            <a:r>
              <a:rPr dirty="0" err="1"/>
              <a:t>datas</a:t>
            </a:r>
            <a:r>
              <a:rPr dirty="0"/>
              <a:t>, </a:t>
            </a:r>
            <a:r>
              <a:rPr dirty="0" err="1"/>
              <a:t>nulos</a:t>
            </a:r>
            <a:r>
              <a:rPr dirty="0"/>
              <a:t> e padronização.
Base </a:t>
            </a:r>
            <a:r>
              <a:rPr dirty="0" err="1"/>
              <a:t>bruta</a:t>
            </a:r>
            <a:r>
              <a:rPr dirty="0"/>
              <a:t> </a:t>
            </a:r>
            <a:r>
              <a:rPr dirty="0" err="1"/>
              <a:t>preservada</a:t>
            </a:r>
            <a:r>
              <a:rPr dirty="0"/>
              <a:t> para </a:t>
            </a:r>
            <a:r>
              <a:rPr dirty="0" err="1"/>
              <a:t>manter</a:t>
            </a:r>
            <a:r>
              <a:rPr dirty="0"/>
              <a:t> </a:t>
            </a:r>
            <a:r>
              <a:rPr dirty="0" err="1"/>
              <a:t>rastreabilidade</a:t>
            </a:r>
            <a:r>
              <a:rPr dirty="0"/>
              <a:t>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0" y="2852928"/>
            <a:ext cx="3703320" cy="1444752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79392" y="301752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79392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2919044"/>
            <a:ext cx="2807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/>
              <a:t>2. </a:t>
            </a:r>
            <a:r>
              <a:rPr dirty="0" err="1"/>
              <a:t>Variável-alvo</a:t>
            </a:r>
            <a:endParaRPr dirty="0"/>
          </a:p>
        </p:txBody>
      </p:sp>
      <p:sp>
        <p:nvSpPr>
          <p:cNvPr id="83" name="TextBox 82"/>
          <p:cNvSpPr txBox="1"/>
          <p:nvPr/>
        </p:nvSpPr>
        <p:spPr>
          <a:xfrm>
            <a:off x="4882896" y="3383280"/>
            <a:ext cx="278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latin typeface="Aptos"/>
              </a:defRPr>
            </a:lvl1pPr>
          </a:lstStyle>
          <a:p>
            <a:r>
              <a:rPr dirty="0" err="1"/>
              <a:t>acidente_fatal</a:t>
            </a:r>
            <a:r>
              <a:rPr dirty="0"/>
              <a:t> = 1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mortos</a:t>
            </a:r>
            <a:r>
              <a:rPr dirty="0"/>
              <a:t> &gt;= 1; </a:t>
            </a:r>
            <a:r>
              <a:rPr dirty="0" err="1"/>
              <a:t>caso</a:t>
            </a:r>
            <a:r>
              <a:rPr dirty="0"/>
              <a:t> </a:t>
            </a:r>
            <a:r>
              <a:rPr dirty="0" err="1"/>
              <a:t>contrário</a:t>
            </a:r>
            <a:r>
              <a:rPr dirty="0"/>
              <a:t>, 0.
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lógica</a:t>
            </a:r>
            <a:r>
              <a:rPr dirty="0"/>
              <a:t> </a:t>
            </a:r>
            <a:r>
              <a:rPr dirty="0" err="1"/>
              <a:t>aplicada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alvo</a:t>
            </a:r>
            <a:r>
              <a:rPr dirty="0"/>
              <a:t>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73568" y="2852928"/>
            <a:ext cx="3959352" cy="1444752"/>
          </a:xfrm>
          <a:prstGeom prst="roundRect">
            <a:avLst/>
          </a:prstGeom>
          <a:solidFill>
            <a:srgbClr val="FFF8E5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138160" y="3017520"/>
            <a:ext cx="384048" cy="38404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38160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41664" y="3017519"/>
            <a:ext cx="3063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/>
              <a:t>3. Bases </a:t>
            </a:r>
            <a:r>
              <a:rPr dirty="0" err="1"/>
              <a:t>analítica</a:t>
            </a:r>
            <a:r>
              <a:rPr dirty="0"/>
              <a:t> e modelável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26424" y="3383280"/>
            <a:ext cx="3044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latin typeface="Aptos"/>
              </a:defRPr>
            </a:lvl1pPr>
          </a:lstStyle>
          <a:p>
            <a:r>
              <a:rPr dirty="0"/>
              <a:t>Base </a:t>
            </a:r>
            <a:r>
              <a:rPr dirty="0" err="1"/>
              <a:t>analítica</a:t>
            </a:r>
            <a:r>
              <a:rPr dirty="0"/>
              <a:t> para EDA/</a:t>
            </a:r>
            <a:r>
              <a:rPr dirty="0" err="1"/>
              <a:t>indicadores</a:t>
            </a:r>
            <a:r>
              <a:rPr dirty="0"/>
              <a:t>.
Base modelável com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explicativas</a:t>
            </a:r>
            <a:r>
              <a:rPr dirty="0"/>
              <a:t> + </a:t>
            </a:r>
            <a:r>
              <a:rPr dirty="0" err="1"/>
              <a:t>alvo</a:t>
            </a:r>
            <a:r>
              <a:rPr dirty="0"/>
              <a:t>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" y="4498848"/>
            <a:ext cx="5623560" cy="12984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20624" y="466344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062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128" y="4663440"/>
            <a:ext cx="4727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/>
              <a:t>4. </a:t>
            </a:r>
            <a:r>
              <a:rPr dirty="0" err="1"/>
              <a:t>Documentação</a:t>
            </a:r>
            <a:endParaRPr dirty="0"/>
          </a:p>
        </p:txBody>
      </p:sp>
      <p:sp>
        <p:nvSpPr>
          <p:cNvPr id="93" name="TextBox 92"/>
          <p:cNvSpPr txBox="1"/>
          <p:nvPr/>
        </p:nvSpPr>
        <p:spPr>
          <a:xfrm>
            <a:off x="1024128" y="5029200"/>
            <a:ext cx="4709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latin typeface="Aptos"/>
              </a:defRPr>
            </a:lvl1pPr>
          </a:lstStyle>
          <a:p>
            <a:r>
              <a:rPr dirty="0" err="1"/>
              <a:t>Dicionário</a:t>
            </a:r>
            <a:r>
              <a:rPr dirty="0"/>
              <a:t> de 5 </a:t>
            </a:r>
            <a:r>
              <a:rPr dirty="0" err="1"/>
              <a:t>variáveis</a:t>
            </a:r>
            <a:r>
              <a:rPr dirty="0"/>
              <a:t> + </a:t>
            </a:r>
            <a:r>
              <a:rPr dirty="0" err="1"/>
              <a:t>decisões</a:t>
            </a:r>
            <a:r>
              <a:rPr dirty="0"/>
              <a:t> de </a:t>
            </a:r>
            <a:r>
              <a:rPr dirty="0" err="1"/>
              <a:t>tratamento</a:t>
            </a:r>
            <a:r>
              <a:rPr dirty="0"/>
              <a:t> + README do </a:t>
            </a:r>
            <a:r>
              <a:rPr dirty="0" err="1"/>
              <a:t>projeto</a:t>
            </a:r>
            <a:r>
              <a:rPr dirty="0"/>
              <a:t>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016752" y="4498848"/>
            <a:ext cx="5916168" cy="1298448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181344" y="466344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8134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84848" y="4663440"/>
            <a:ext cx="5020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/>
              <a:t>5. </a:t>
            </a:r>
            <a:r>
              <a:rPr dirty="0" err="1"/>
              <a:t>Validação</a:t>
            </a:r>
            <a:r>
              <a:rPr dirty="0"/>
              <a:t> e </a:t>
            </a:r>
            <a:r>
              <a:rPr dirty="0" err="1"/>
              <a:t>qualidade</a:t>
            </a:r>
            <a:endParaRPr dirty="0"/>
          </a:p>
        </p:txBody>
      </p:sp>
      <p:sp>
        <p:nvSpPr>
          <p:cNvPr id="98" name="TextBox 97"/>
          <p:cNvSpPr txBox="1"/>
          <p:nvPr/>
        </p:nvSpPr>
        <p:spPr>
          <a:xfrm>
            <a:off x="6784848" y="5029200"/>
            <a:ext cx="5001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latin typeface="Aptos"/>
              </a:defRPr>
            </a:lvl1pPr>
          </a:lstStyle>
          <a:p>
            <a:r>
              <a:rPr dirty="0"/>
              <a:t>Notebook </a:t>
            </a:r>
            <a:r>
              <a:rPr dirty="0" err="1"/>
              <a:t>executado</a:t>
            </a:r>
            <a:r>
              <a:rPr dirty="0"/>
              <a:t> do </a:t>
            </a:r>
            <a:r>
              <a:rPr dirty="0" err="1"/>
              <a:t>início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fim</a:t>
            </a:r>
            <a:r>
              <a:rPr dirty="0"/>
              <a:t>;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reabertos</a:t>
            </a:r>
            <a:r>
              <a:rPr dirty="0"/>
              <a:t> e </a:t>
            </a:r>
            <a:r>
              <a:rPr dirty="0" err="1"/>
              <a:t>conferidos</a:t>
            </a:r>
            <a:r>
              <a:rPr dirty="0"/>
              <a:t>; data leakage </a:t>
            </a:r>
            <a:r>
              <a:rPr dirty="0" err="1"/>
              <a:t>verificado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OK.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56032" y="5925312"/>
            <a:ext cx="11676888" cy="43891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38912" y="589788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latin typeface="Aptos"/>
              </a:defRPr>
            </a:lvl1pPr>
          </a:lstStyle>
          <a:p>
            <a:r>
              <a:rPr b="1" dirty="0" err="1"/>
              <a:t>Observação</a:t>
            </a:r>
            <a:r>
              <a:rPr b="1" dirty="0"/>
              <a:t>: </a:t>
            </a:r>
            <a:r>
              <a:rPr dirty="0"/>
              <a:t>o </a:t>
            </a:r>
            <a:r>
              <a:rPr dirty="0" err="1"/>
              <a:t>Módulo</a:t>
            </a:r>
            <a:r>
              <a:rPr dirty="0"/>
              <a:t> 4 </a:t>
            </a:r>
            <a:r>
              <a:rPr dirty="0" err="1"/>
              <a:t>prepara</a:t>
            </a:r>
            <a:r>
              <a:rPr dirty="0"/>
              <a:t> a base para EDA, Power BI e </a:t>
            </a:r>
            <a:r>
              <a:rPr dirty="0" err="1"/>
              <a:t>futura</a:t>
            </a:r>
            <a:r>
              <a:rPr dirty="0"/>
              <a:t> </a:t>
            </a:r>
            <a:r>
              <a:rPr dirty="0" err="1"/>
              <a:t>modelagem</a:t>
            </a:r>
            <a:r>
              <a:rPr dirty="0"/>
              <a:t>, </a:t>
            </a:r>
            <a:r>
              <a:rPr dirty="0" err="1"/>
              <a:t>mantendo</a:t>
            </a:r>
            <a:r>
              <a:rPr dirty="0"/>
              <a:t> </a:t>
            </a:r>
            <a:r>
              <a:rPr dirty="0" err="1"/>
              <a:t>separação</a:t>
            </a:r>
            <a:r>
              <a:rPr dirty="0"/>
              <a:t> entre dados </a:t>
            </a:r>
            <a:r>
              <a:rPr dirty="0" err="1"/>
              <a:t>brutos</a:t>
            </a:r>
            <a:r>
              <a:rPr dirty="0"/>
              <a:t>, </a:t>
            </a:r>
            <a:r>
              <a:rPr dirty="0" err="1"/>
              <a:t>analíticos</a:t>
            </a:r>
            <a:r>
              <a:rPr dirty="0"/>
              <a:t> e </a:t>
            </a:r>
            <a:r>
              <a:rPr dirty="0" err="1"/>
              <a:t>modeláveis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77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rial"/>
              </a:rPr>
              <a:t>PRF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9436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Arial"/>
              </a:rPr>
              <a:t>MÓDULO 4 - PREPARAÇÃO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62179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  <a:latin typeface="Arial"/>
              </a:rPr>
              <a:t>Preparação e Bases </a:t>
            </a:r>
            <a:r>
              <a:rPr sz="1400" b="0" dirty="0" err="1">
                <a:solidFill>
                  <a:schemeClr val="bg1"/>
                </a:solidFill>
                <a:latin typeface="Arial"/>
              </a:rPr>
              <a:t>Tratadas</a:t>
            </a:r>
            <a:endParaRPr sz="1500" b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21040" y="1188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latin typeface="Arial"/>
              </a:rPr>
              <a:t>Análise de Dados | PRF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Preparação, transformação e exportação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rial"/>
              </a:rPr>
              <a:t>Da </a:t>
            </a:r>
            <a:r>
              <a:rPr sz="1400" b="0" dirty="0" err="1">
                <a:latin typeface="Arial"/>
              </a:rPr>
              <a:t>leitura</a:t>
            </a:r>
            <a:r>
              <a:rPr sz="1400" b="0" dirty="0">
                <a:latin typeface="Arial"/>
              </a:rPr>
              <a:t> do CSV à </a:t>
            </a:r>
            <a:r>
              <a:rPr sz="1400" b="0" dirty="0" err="1">
                <a:latin typeface="Arial"/>
              </a:rPr>
              <a:t>criação</a:t>
            </a:r>
            <a:r>
              <a:rPr sz="1400" b="0" dirty="0">
                <a:latin typeface="Arial"/>
              </a:rPr>
              <a:t> das </a:t>
            </a:r>
            <a:r>
              <a:rPr sz="1400" b="0" dirty="0" err="1">
                <a:latin typeface="Arial"/>
              </a:rPr>
              <a:t>duas</a:t>
            </a:r>
            <a:r>
              <a:rPr sz="1400" b="0" dirty="0">
                <a:latin typeface="Arial"/>
              </a:rPr>
              <a:t> bases </a:t>
            </a:r>
            <a:r>
              <a:rPr sz="1400" b="0" dirty="0" err="1">
                <a:latin typeface="Arial"/>
              </a:rPr>
              <a:t>reutilizáveis</a:t>
            </a:r>
            <a:r>
              <a:rPr sz="1400" b="0" dirty="0"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11109960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ETAPAS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746504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Leitura → transformação → exportação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Processo executado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109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816352"/>
            <a:ext cx="554991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latin typeface="Arial"/>
              </a:rPr>
              <a:t>df["data_inversa"] = pd.to_datetime(df["data_inversa"], errors="coerce")
df["ano"] = df["data_inversa"].dt.year
df["mes"] = df["data_inversa"].dt.month
base_analitica.to_csv(ARQUIVO_BASE_ANALITICA, sep=";", encoding="utf-8-sig", index=False)
base_modelavel.to_csv(ARQUIVO_BASE_MODELAVEL, sep=";", encoding="utf-8-sig", index=False)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523036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Arquivos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202936"/>
            <a:ext cx="4069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base_analitica_prf_2025.csv e base_modelavel_prf_2025.csv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52303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Validação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5202936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Bases exportadas e reabertas; dimensões conferidas sem perda de registros.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16752"/>
            <a:ext cx="1110996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099048"/>
            <a:ext cx="10744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A base analítica alimenta EDA/Power BI; a base modelável é destinada à futura modelagem.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latin typeface="Arial"/>
              </a:rPr>
              <a:t>Análise de Dados | PRF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77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chemeClr val="bg1"/>
                </a:solidFill>
                <a:latin typeface="Arial"/>
              </a:rPr>
              <a:t>PRF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Arial"/>
              </a:rPr>
              <a:t>MÓDULO 4 - PREPARAÇÃO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62179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/>
                </a:solidFill>
                <a:latin typeface="Arial"/>
              </a:rPr>
              <a:t>Variável-alvo</a:t>
            </a:r>
            <a:r>
              <a:rPr sz="1400" b="0" dirty="0">
                <a:solidFill>
                  <a:schemeClr val="bg1"/>
                </a:solidFill>
                <a:latin typeface="Arial"/>
              </a:rPr>
              <a:t> e Base Modelável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18872"/>
            <a:ext cx="3337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 err="1">
                <a:solidFill>
                  <a:schemeClr val="bg1"/>
                </a:solidFill>
                <a:latin typeface="Arial"/>
              </a:rPr>
              <a:t>Análise</a:t>
            </a:r>
            <a:r>
              <a:rPr sz="1000" b="0" dirty="0">
                <a:solidFill>
                  <a:schemeClr val="bg1"/>
                </a:solidFill>
                <a:latin typeface="Arial"/>
              </a:rPr>
              <a:t> de Dados | PRF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Alvo, indicadores derivados e prevenção de data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Construção do alvo e seleção das variáveis permitidas para modelagem.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11109960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ALVO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46504"/>
            <a:ext cx="9784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acidente_fatal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Regra aplicada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109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816352"/>
            <a:ext cx="554991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latin typeface="Arial"/>
              </a:rPr>
              <a:t>df["acidente_fatal"] = np.where(df["mortos"] &gt;= 1, 1, 0)
violacoes = df.loc[
  ((df["mortos"] &gt;= 1) &amp; (df["acidente_fatal"] != 1)) |
  ((df["mortos"] == 0) &amp; (df["acidente_fatal"] != 0))
]
assert len(violacoes) ==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5230368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Base modelável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5202936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Variáveis explicativas + acidente_fatal como alvo.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52303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Leakage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5202936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latin typeface="Arial"/>
              </a:rPr>
              <a:t>Verificação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concluída</a:t>
            </a:r>
            <a:r>
              <a:rPr sz="1400" b="0" dirty="0">
                <a:latin typeface="Arial"/>
              </a:rPr>
              <a:t>: OK. </a:t>
            </a:r>
            <a:r>
              <a:rPr sz="1400" b="0" dirty="0" err="1">
                <a:latin typeface="Arial"/>
              </a:rPr>
              <a:t>Mortos</a:t>
            </a:r>
            <a:r>
              <a:rPr sz="1400" b="0" dirty="0">
                <a:latin typeface="Arial"/>
              </a:rPr>
              <a:t>, </a:t>
            </a:r>
            <a:r>
              <a:rPr sz="1400" b="0" dirty="0" err="1">
                <a:latin typeface="Arial"/>
              </a:rPr>
              <a:t>feridos</a:t>
            </a:r>
            <a:r>
              <a:rPr sz="1400" b="0" dirty="0">
                <a:latin typeface="Arial"/>
              </a:rPr>
              <a:t>, </a:t>
            </a:r>
            <a:r>
              <a:rPr sz="1400" b="0" dirty="0" err="1">
                <a:latin typeface="Arial"/>
              </a:rPr>
              <a:t>total_vitimas</a:t>
            </a:r>
            <a:r>
              <a:rPr sz="1400" b="0" dirty="0">
                <a:latin typeface="Arial"/>
              </a:rPr>
              <a:t> e </a:t>
            </a:r>
            <a:r>
              <a:rPr sz="1400" b="0" dirty="0" err="1">
                <a:latin typeface="Arial"/>
              </a:rPr>
              <a:t>indice_gravidade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não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entram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na</a:t>
            </a:r>
            <a:r>
              <a:rPr sz="1400" b="0" dirty="0">
                <a:latin typeface="Arial"/>
              </a:rPr>
              <a:t> base modelável.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16752"/>
            <a:ext cx="1110996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099048"/>
            <a:ext cx="10744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rial"/>
              </a:rPr>
              <a:t>A </a:t>
            </a:r>
            <a:r>
              <a:rPr sz="1400" b="0" dirty="0" err="1">
                <a:latin typeface="Arial"/>
              </a:rPr>
              <a:t>separação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evita</a:t>
            </a:r>
            <a:r>
              <a:rPr sz="1400" b="0" dirty="0">
                <a:latin typeface="Arial"/>
              </a:rPr>
              <a:t> que </a:t>
            </a:r>
            <a:r>
              <a:rPr sz="1400" b="0" dirty="0" err="1">
                <a:latin typeface="Arial"/>
              </a:rPr>
              <a:t>informações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derivadas</a:t>
            </a:r>
            <a:r>
              <a:rPr sz="1400" b="0" dirty="0">
                <a:latin typeface="Arial"/>
              </a:rPr>
              <a:t> do </a:t>
            </a:r>
            <a:r>
              <a:rPr sz="1400" b="0" dirty="0" err="1">
                <a:latin typeface="Arial"/>
              </a:rPr>
              <a:t>desfecho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contaminem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futuras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etapas</a:t>
            </a:r>
            <a:r>
              <a:rPr sz="1400" b="0" dirty="0">
                <a:latin typeface="Arial"/>
              </a:rPr>
              <a:t> de </a:t>
            </a:r>
            <a:r>
              <a:rPr sz="1400" b="0" dirty="0" err="1">
                <a:latin typeface="Arial"/>
              </a:rPr>
              <a:t>modelagem</a:t>
            </a:r>
            <a:r>
              <a:rPr sz="1400" b="0" dirty="0"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latin typeface="Arial"/>
              </a:rPr>
              <a:t>Análise de Dados | PRF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529B"/>
          </a:solidFill>
          <a:ln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77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rial"/>
              </a:rPr>
              <a:t>PRF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Arial"/>
              </a:rPr>
              <a:t>MÓDULO 4 - PREPARAÇÃO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9184"/>
            <a:ext cx="62179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/>
                </a:solidFill>
                <a:latin typeface="Arial"/>
              </a:rPr>
              <a:t>Documentação</a:t>
            </a:r>
            <a:r>
              <a:rPr sz="1400" b="0" dirty="0">
                <a:solidFill>
                  <a:schemeClr val="bg1"/>
                </a:solidFill>
                <a:latin typeface="Arial"/>
              </a:rPr>
              <a:t>, </a:t>
            </a:r>
            <a:r>
              <a:rPr sz="1400" b="0" dirty="0" err="1">
                <a:solidFill>
                  <a:schemeClr val="bg1"/>
                </a:solidFill>
                <a:latin typeface="Arial"/>
              </a:rPr>
              <a:t>Qualidade</a:t>
            </a:r>
            <a:r>
              <a:rPr sz="1400" b="0" dirty="0">
                <a:solidFill>
                  <a:schemeClr val="bg1"/>
                </a:solidFill>
                <a:latin typeface="Arial"/>
              </a:rPr>
              <a:t> e </a:t>
            </a:r>
            <a:r>
              <a:rPr sz="1400" b="0" dirty="0" err="1">
                <a:solidFill>
                  <a:schemeClr val="bg1"/>
                </a:solidFill>
                <a:latin typeface="Arial"/>
              </a:rPr>
              <a:t>Entrega</a:t>
            </a:r>
            <a:endParaRPr sz="1500" b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21040" y="118872"/>
            <a:ext cx="3337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 err="1">
                <a:solidFill>
                  <a:schemeClr val="bg1"/>
                </a:solidFill>
                <a:latin typeface="Arial"/>
              </a:rPr>
              <a:t>Análise</a:t>
            </a:r>
            <a:r>
              <a:rPr sz="1000" b="0" dirty="0">
                <a:solidFill>
                  <a:schemeClr val="bg1"/>
                </a:solidFill>
                <a:latin typeface="Arial"/>
              </a:rPr>
              <a:t> de Dados | PRF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Fechamento do 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Documentação pronta, critérios de qualidade conferidos e pacote preparado para os próximos módulos.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11109960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Arial"/>
              </a:rPr>
              <a:t>DOCUMENTAÇÃO</a:t>
            </a:r>
            <a:r>
              <a:rPr lang="pt-BR" sz="1400" b="1" dirty="0">
                <a:latin typeface="Arial"/>
              </a:rPr>
              <a:t>:</a:t>
            </a:r>
            <a:endParaRPr sz="1400" b="1" dirty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4593" y="1746504"/>
            <a:ext cx="29577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latin typeface="Arial"/>
              </a:rPr>
              <a:t>Artefatos</a:t>
            </a:r>
            <a:r>
              <a:rPr sz="1400" b="0" dirty="0">
                <a:latin typeface="Arial"/>
              </a:rPr>
              <a:t> do </a:t>
            </a:r>
            <a:r>
              <a:rPr sz="1400" b="0" dirty="0" err="1">
                <a:latin typeface="Arial"/>
              </a:rPr>
              <a:t>projeto</a:t>
            </a:r>
            <a:endParaRPr sz="1400" b="1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Arquivos gerados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109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713232" y="2816352"/>
            <a:ext cx="55499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latin typeface="Arial"/>
              </a:rPr>
              <a:t>dados_tratados/base_analitica_prf_2025.csv
dados_tratados/base_modelavel_prf_2025.csv
dados_tratados/dicionario_variaveis_modulo4.csv
logs/decisoes_tratamento_modulo4.md
README.md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52303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202936"/>
            <a:ext cx="3886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Notebook sem erro | bases em dados_tratados | README criado | decisões registradas | leakage ausente.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02352"/>
            <a:ext cx="544068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523036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202936"/>
            <a:ext cx="3886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Correção técnica | reprodutibilidade | documentação | separação das bases | prevenção de vazamento.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16752"/>
            <a:ext cx="11109960" cy="438912"/>
          </a:xfrm>
          <a:prstGeom prst="rect">
            <a:avLst/>
          </a:prstGeom>
          <a:solidFill>
            <a:srgbClr val="F4F6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685800" y="6099048"/>
            <a:ext cx="10744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latin typeface="Arial"/>
              </a:rPr>
              <a:t>Conexão</a:t>
            </a:r>
            <a:r>
              <a:rPr sz="1400" b="0" dirty="0">
                <a:latin typeface="Arial"/>
              </a:rPr>
              <a:t>: a base </a:t>
            </a:r>
            <a:r>
              <a:rPr sz="1400" b="0" dirty="0" err="1">
                <a:latin typeface="Arial"/>
              </a:rPr>
              <a:t>analítica</a:t>
            </a:r>
            <a:r>
              <a:rPr sz="1400" b="0" dirty="0">
                <a:latin typeface="Arial"/>
              </a:rPr>
              <a:t> segue para EDA/Power BI; a base modelável segue para </a:t>
            </a:r>
            <a:r>
              <a:rPr sz="1400" b="0" dirty="0" err="1">
                <a:latin typeface="Arial"/>
              </a:rPr>
              <a:t>futura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árvore</a:t>
            </a:r>
            <a:r>
              <a:rPr sz="1400" b="0" dirty="0">
                <a:latin typeface="Arial"/>
              </a:rPr>
              <a:t> de </a:t>
            </a:r>
            <a:r>
              <a:rPr sz="1400" b="0" dirty="0" err="1">
                <a:latin typeface="Arial"/>
              </a:rPr>
              <a:t>decisão</a:t>
            </a:r>
            <a:r>
              <a:rPr sz="1400" b="0" dirty="0"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latin typeface="Arial"/>
              </a:rPr>
              <a:t>Análise</a:t>
            </a:r>
            <a:r>
              <a:rPr sz="900" b="0" dirty="0">
                <a:latin typeface="Arial"/>
              </a:rPr>
              <a:t> de Dados | PRF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773</Words>
  <Application>Microsoft Office PowerPoint</Application>
  <PresentationFormat>Widescreen</PresentationFormat>
  <Paragraphs>78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Wellington Lima</dc:creator>
  <cp:keywords/>
  <dc:description>generated using python-pptx</dc:description>
  <cp:lastModifiedBy>Wellington</cp:lastModifiedBy>
  <cp:revision>10</cp:revision>
  <dcterms:created xsi:type="dcterms:W3CDTF">2013-01-27T09:14:16Z</dcterms:created>
  <dcterms:modified xsi:type="dcterms:W3CDTF">2026-09-21T01:50:55Z</dcterms:modified>
  <cp:category/>
</cp:coreProperties>
</file>